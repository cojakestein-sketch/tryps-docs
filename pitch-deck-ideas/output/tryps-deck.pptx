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1695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1" Type="http://schemas.openxmlformats.org/officeDocument/2006/relationships/slideMaster" Target="slideMasters/slideMaster1.xml" /><Relationship Id="rId43" Type="http://schemas.openxmlformats.org/officeDocument/2006/relationships/presProps" Target="presProps.xml" /><Relationship Id="rId44" Type="http://schemas.openxmlformats.org/officeDocument/2006/relationships/viewProps" Target="viewProps.xml" /><Relationship Id="rId45" Type="http://schemas.openxmlformats.org/officeDocument/2006/relationships/theme" Target="theme/theme1.xml" /><Relationship Id="rId46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ctr">
              <a:defRPr sz="4400" b="1">
                <a:solidFill>
                  <a:srgbClr val="FFFFFF"/>
                </a:solidFill>
                <a:latin typeface="Inter"/>
              </a:defRPr>
            </a:pPr>
            <a:r>
              <a:rPr lang="en-US" sz="4400" b="1">
                <a:solidFill>
                  <a:srgbClr val="FFFFFF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ctr">
              <a:defRPr sz="2200">
                <a:solidFill>
                  <a:srgbClr val="AAAABB"/>
                </a:solidFill>
                <a:latin typeface="Inter"/>
              </a:defRPr>
            </a:pPr>
            <a:r>
              <a:rPr lang="en-US" sz="2200">
                <a:solidFill>
                  <a:srgbClr val="AAAABB"/>
                </a:solidFill>
                <a:latin typeface="Inter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923"/>
                </a:solidFill>
                <a:latin typeface="Inter"/>
              </a:defRPr>
            </a:pPr>
            <a:r>
              <a:rPr lang="en-US" sz="32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2000">
                <a:solidFill>
                  <a:srgbClr val="1A1A1A"/>
                </a:solidFill>
                <a:latin typeface="Inter"/>
              </a:defRPr>
            </a:pPr>
            <a:r>
              <a:rPr lang="en-US" sz="20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>
              <a:defRPr sz="4000" b="1">
                <a:solidFill>
                  <a:srgbClr val="FFFFFF"/>
                </a:solidFill>
                <a:latin typeface="Inter"/>
              </a:defRPr>
            </a:pPr>
            <a:r>
              <a:rPr lang="en-US" sz="4000" b="1">
                <a:solidFill>
                  <a:srgbClr val="FFFFFF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sz="2000">
                <a:solidFill>
                  <a:srgbClr val="AAAABB"/>
                </a:solidFill>
                <a:latin typeface="Inter"/>
              </a:defRPr>
            </a:pPr>
            <a:r>
              <a:rPr lang="en-US" sz="2000">
                <a:solidFill>
                  <a:srgbClr val="AAAABB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F1923"/>
                </a:solidFill>
                <a:latin typeface="Inter"/>
              </a:defRPr>
            </a:pPr>
            <a:r>
              <a:rPr lang="en-US" sz="32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200" b="1">
                <a:solidFill>
                  <a:srgbClr val="0F1923"/>
                </a:solidFill>
                <a:latin typeface="Inter"/>
              </a:defRPr>
            </a:pPr>
            <a:r>
              <a:rPr lang="en-US" sz="32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  <a:latin typeface="Inter"/>
              </a:defRPr>
            </a:pPr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  <a:latin typeface="Inter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1800">
                <a:solidFill>
                  <a:srgbClr val="1A1A1A"/>
                </a:solidFill>
                <a:latin typeface="Inter"/>
              </a:defRPr>
            </a:pPr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>
              <a:defRPr sz="2800" b="1">
                <a:solidFill>
                  <a:srgbClr val="0F1923"/>
                </a:solidFill>
                <a:latin typeface="Inter"/>
              </a:defRPr>
            </a:pPr>
            <a:r>
              <a:rPr lang="en-US" sz="2800" b="1">
                <a:solidFill>
                  <a:srgbClr val="0F1923"/>
                </a:solidFill>
                <a:latin typeface="Inter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Click to edit Master text styles</a:t>
            </a:r>
          </a:p>
          <a:p>
            <a:pPr lvl="1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Second level</a:t>
            </a:r>
          </a:p>
          <a:p>
            <a:pPr lvl="2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Third level</a:t>
            </a:r>
          </a:p>
          <a:p>
            <a:pPr lvl="3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Fourth level</a:t>
            </a:r>
          </a:p>
          <a:p>
            <a:pPr lvl="4">
              <a:defRPr sz="1800">
                <a:solidFill>
                  <a:srgbClr val="1A1A1A"/>
                </a:solidFill>
                <a:latin typeface="Inter"/>
              </a:defRPr>
            </a:pPr>
            <a:r>
              <a:rPr lang="en-US" sz="1800">
                <a:solidFill>
                  <a:srgbClr val="1A1A1A"/>
                </a:solidFill>
                <a:latin typeface="Inter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>
              <a:defRPr sz="1600">
                <a:solidFill>
                  <a:srgbClr val="6B7280"/>
                </a:solidFill>
                <a:latin typeface="Inter"/>
              </a:defRPr>
            </a:pPr>
            <a:r>
              <a:rPr lang="en-US" sz="1600">
                <a:solidFill>
                  <a:srgbClr val="6B7280"/>
                </a:solidFill>
                <a:latin typeface="Inter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Tryps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travel agent in your iMessage group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Jake Stein | Founder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Planning a group trip is broken.</a:t>
            </a:r>
          </a:p>
          <a:p>
            <a:pPr lvl="0"/>
            <a:r>
              <a:rPr b="1"/>
              <a:t>47 texts</a:t>
            </a:r>
            <a:r>
              <a:rPr/>
              <a:t> to pick a restaurant. Nobody books it.</a:t>
            </a:r>
          </a:p>
          <a:p>
            <a:pPr lvl="0"/>
            <a:r>
              <a:rPr/>
              <a:t>The “planner friend” does all the work. Everyone else ghosts.</a:t>
            </a:r>
          </a:p>
          <a:p>
            <a:pPr lvl="0"/>
            <a:r>
              <a:rPr/>
              <a:t>Details are scattered across iMessage, Google Docs, Venmo, and someone’s Notes app</a:t>
            </a:r>
          </a:p>
          <a:p>
            <a:pPr lvl="0"/>
            <a:r>
              <a:rPr/>
              <a:t>By the time you land, half the group doesn’t know the plan</a:t>
            </a:r>
          </a:p>
          <a:p>
            <a:pPr lvl="0" indent="0" marL="1270000">
              <a:buNone/>
            </a:pPr>
            <a:r>
              <a:rPr sz="2000"/>
              <a:t>The group chat is where trips get planned. But nothing that happens there turns into action.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Three Layers. One Experience.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people already are. What they want to see. What gets done for them.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Tryps Works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1: iMessage — Where most people interact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the Tryps contact to your group chat. That’s it. Tryps listens to everything you text and </a:t>
            </a:r>
            <a:r>
              <a:rPr b="1"/>
              <a:t>actively plans your trip in the background</a:t>
            </a:r>
            <a:r>
              <a:rPr/>
              <a:t>. No new app required for most of the group.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2: Mobile App — For people who want to see 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Clean itinerary with voting on activities</a:t>
            </a:r>
          </a:p>
          <a:p>
            <a:pPr lvl="0"/>
            <a:r>
              <a:rPr/>
              <a:t>See when everyone’s landing and who’s involved</a:t>
            </a:r>
          </a:p>
          <a:p>
            <a:pPr lvl="0"/>
            <a:r>
              <a:rPr/>
              <a:t>Vote on stays, log expenses, track the group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Layer 3: Agent Layer — AI that executes on your behalf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 on </a:t>
            </a:r>
            <a:r>
              <a:rPr b="1"/>
              <a:t>X402 protocols</a:t>
            </a:r>
            <a:r>
              <a:rPr/>
              <a:t> — our agent can search, book, and coordinate on behalf of the group. From the second you join, you’re asked what you want this trip to feel like. Then it’s planned </a:t>
            </a:r>
            <a:r>
              <a:rPr i="1"/>
              <a:t>for</a:t>
            </a:r>
            <a:r>
              <a:rPr/>
              <a:t> you.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Setup Ramp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Trips are better when everything is connected. There’s a simple setup:</a:t>
            </a:r>
          </a:p>
          <a:p>
            <a:pPr lvl="0"/>
            <a:r>
              <a:rPr b="1"/>
              <a:t>Credit card</a:t>
            </a:r>
            <a:r>
              <a:rPr/>
              <a:t> — for seamless group payments</a:t>
            </a:r>
          </a:p>
          <a:p>
            <a:pPr lvl="0"/>
            <a:r>
              <a:rPr b="1"/>
              <a:t>Airline accounts</a:t>
            </a:r>
            <a:r>
              <a:rPr/>
              <a:t> — Delta, United, etc. (that’s how you get there)</a:t>
            </a:r>
          </a:p>
          <a:p>
            <a:pPr lvl="0"/>
            <a:r>
              <a:rPr b="1"/>
              <a:t>Hotel / Airbnb</a:t>
            </a:r>
            <a:r>
              <a:rPr/>
              <a:t> — account connections for booking</a:t>
            </a:r>
          </a:p>
          <a:p>
            <a:pPr lvl="0" indent="0" marL="0">
              <a:buNone/>
            </a:pPr>
            <a:r>
              <a:rPr/>
              <a:t>Once connected, this is the </a:t>
            </a:r>
            <a:r>
              <a:rPr b="1"/>
              <a:t>easiest and best way to book a group trip</a:t>
            </a:r>
            <a:r>
              <a:rPr/>
              <a:t>. The agent has everything it needs to act on your behalf.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 Don’t Just Know What You Like. We Know Why You Travel.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layers of traveler understanding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/>
                <a:gridCol w="2019300"/>
                <a:gridCol w="2260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Captures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Tryps Gets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Traits</a:t>
                      </a:r>
                      <a:r>
                        <a:rPr/>
                        <a:t> (Trip Vibe)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Beach vs. city, chill vs. packed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A/B vibe quiz at trip creation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Adaptations</a:t>
                      </a:r>
                      <a:r>
                        <a:rPr/>
                        <a:t> (Trip Intent)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want from </a:t>
                      </a:r>
                      <a:r>
                        <a:rPr i="1"/>
                        <a:t>this</a:t>
                      </a:r>
                      <a:r>
                        <a:rPr/>
                        <a:t> trip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open-ended question + NLP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Narrative</a:t>
                      </a:r>
                      <a:r>
                        <a:rPr/>
                        <a:t> (Travel DNA)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you travel — your evolving story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Cross-trip pattern recognition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Based on Dan McAdams’ (Northwestern) three-level personality framework. No travel app thinks about personality at this depth.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Flywheel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Trip Vibe</a:t>
            </a:r>
            <a:r>
              <a:rPr/>
              <a:t> captures preferences on day 1</a:t>
            </a:r>
          </a:p>
          <a:p>
            <a:pPr lvl="0" indent="0" marL="0">
              <a:buNone/>
            </a:pPr>
            <a:r>
              <a:rPr b="1"/>
              <a:t>Trip Intent</a:t>
            </a:r>
            <a:r>
              <a:rPr/>
              <a:t> adapts to what you want </a:t>
            </a:r>
            <a:r>
              <a:rPr i="1"/>
              <a:t>this time</a:t>
            </a:r>
          </a:p>
          <a:p>
            <a:pPr lvl="0" indent="0" marL="0">
              <a:buNone/>
            </a:pPr>
            <a:r>
              <a:rPr b="1"/>
              <a:t>Travel DNA</a:t>
            </a:r>
            <a:r>
              <a:rPr/>
              <a:t> compounds across every trip you take</a:t>
            </a:r>
          </a:p>
          <a:p>
            <a:pPr lvl="0" indent="0" marL="0">
              <a:buNone/>
            </a:pPr>
            <a:r>
              <a:rPr/>
              <a:t>Each layer makes the agent smarter → which makes the next trip better → which deepens the data</a:t>
            </a:r>
          </a:p>
          <a:p>
            <a:pPr lvl="0" indent="0" marL="0">
              <a:buNone/>
            </a:pPr>
            <a:r>
              <a:rPr b="1"/>
              <a:t>Nobody else has this.</a:t>
            </a:r>
            <a:r>
              <a:rPr/>
              <a:t> This is the personality graph that compounds with every trip.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Now &amp; Right to Win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Honest Assessment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Everybody can make a viral mobile app. We’ve seen it:</a:t>
            </a:r>
          </a:p>
          <a:p>
            <a:pPr lvl="0"/>
            <a:r>
              <a:rPr b="1"/>
              <a:t>Partiful</a:t>
            </a:r>
            <a:r>
              <a:rPr/>
              <a:t> did it for parties</a:t>
            </a:r>
          </a:p>
          <a:p>
            <a:pPr lvl="0"/>
            <a:r>
              <a:rPr b="1"/>
              <a:t>Strava</a:t>
            </a:r>
            <a:r>
              <a:rPr/>
              <a:t> did it for running</a:t>
            </a:r>
          </a:p>
          <a:p>
            <a:pPr lvl="0"/>
            <a:r>
              <a:rPr b="1"/>
              <a:t>Beli</a:t>
            </a:r>
            <a:r>
              <a:rPr/>
              <a:t> did it for restaurants</a:t>
            </a:r>
          </a:p>
          <a:p>
            <a:pPr lvl="0" indent="0" marL="0">
              <a:buNone/>
            </a:pPr>
            <a:r>
              <a:rPr/>
              <a:t>Simple UI, friends share it, captures data. We do it for travel.</a:t>
            </a:r>
          </a:p>
          <a:p>
            <a:pPr lvl="0" indent="0" marL="0">
              <a:buNone/>
            </a:pPr>
            <a:r>
              <a:rPr b="1"/>
              <a:t>But we don’t think the mobile app alone gives us any right to win.</a:t>
            </a:r>
            <a:r>
              <a:rPr/>
              <a:t> Other players probably have a better right to win on mobile alone.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Actually Win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Nobody has taken the mobile app and </a:t>
            </a:r>
            <a:r>
              <a:rPr b="1"/>
              <a:t>integrated these two layers on top and beneath it.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iMessage: Where the conversation already lives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Partnered with Linq for best-in-class iMessage infrastructure</a:t>
            </a:r>
          </a:p>
          <a:p>
            <a:pPr lvl="0"/>
            <a:r>
              <a:rPr b="1"/>
              <a:t>Nobody</a:t>
            </a:r>
            <a:r>
              <a:rPr/>
              <a:t> can do native group polling in iMessage today</a:t>
            </a:r>
          </a:p>
          <a:p>
            <a:pPr lvl="0"/>
            <a:r>
              <a:rPr/>
              <a:t>We are the first beta tester of Linq’s polling feature</a:t>
            </a:r>
          </a:p>
          <a:p>
            <a:pPr lvl="0"/>
            <a:r>
              <a:rPr/>
              <a:t>When it deploys, we are the </a:t>
            </a:r>
            <a:r>
              <a:rPr b="1"/>
              <a:t>only platform</a:t>
            </a:r>
            <a:r>
              <a:rPr/>
              <a:t> where people vote on trip decisions in iMessage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Agent Layer: AI that executes the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X402 protocols enable our agent to search, book, and coordinate</a:t>
            </a:r>
          </a:p>
          <a:p>
            <a:pPr lvl="0"/>
            <a:r>
              <a:rPr/>
              <a:t>Triggered directly from the iMessage conversation</a:t>
            </a:r>
          </a:p>
          <a:p>
            <a:pPr lvl="0"/>
            <a:r>
              <a:rPr/>
              <a:t>No context switching. No app hopping. The agent just does it.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Moat is the Stack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iMessage</a:t>
            </a:r>
            <a:r>
              <a:rPr/>
              <a:t> — where the conversation already lives (no behavior change)</a:t>
            </a:r>
          </a:p>
          <a:p>
            <a:pPr lvl="0" indent="-342900" marL="342900">
              <a:buAutoNum type="arabicPeriod"/>
            </a:pPr>
            <a:r>
              <a:rPr b="1"/>
              <a:t>Mobile App</a:t>
            </a:r>
            <a:r>
              <a:rPr/>
              <a:t> — for people who want visibility and control</a:t>
            </a:r>
          </a:p>
          <a:p>
            <a:pPr lvl="0" indent="-342900" marL="342900">
              <a:buAutoNum type="arabicPeriod"/>
            </a:pPr>
            <a:r>
              <a:rPr b="1"/>
              <a:t>Agent Layer</a:t>
            </a:r>
            <a:r>
              <a:rPr/>
              <a:t> — AI that executes the plan end-to-end</a:t>
            </a:r>
          </a:p>
          <a:p>
            <a:pPr lvl="0" indent="0" marL="0">
              <a:buNone/>
            </a:pPr>
            <a:r>
              <a:rPr/>
              <a:t>Nobody else has all three. That’s the right to win.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Memory as a Service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not selling a planning tool. </a:t>
            </a:r>
            <a:r>
              <a:rPr b="1"/>
              <a:t>We’re selling memory.</a:t>
            </a:r>
          </a:p>
          <a:p>
            <a:pPr lvl="0" indent="0" marL="0">
              <a:buNone/>
            </a:pPr>
            <a:r>
              <a:rPr/>
              <a:t>Tryps holds the shared context between individuals — what the group decided, preferred, voted on, and experienced together.</a:t>
            </a:r>
          </a:p>
          <a:p>
            <a:pPr lvl="0"/>
            <a:r>
              <a:rPr/>
              <a:t>Every trip generates structured data: preferences, votes, decisions, itineraries, splits, memories</a:t>
            </a:r>
          </a:p>
          <a:p>
            <a:pPr lvl="0"/>
            <a:r>
              <a:rPr/>
              <a:t>That context lives in </a:t>
            </a:r>
            <a:r>
              <a:rPr b="1"/>
              <a:t>our system</a:t>
            </a:r>
            <a:r>
              <a:rPr/>
              <a:t>, not scattered across iMessage threads and Google Docs</a:t>
            </a:r>
          </a:p>
          <a:p>
            <a:pPr lvl="0"/>
            <a:r>
              <a:rPr/>
              <a:t>The more trips a group takes together, the </a:t>
            </a:r>
            <a:r>
              <a:rPr b="1"/>
              <a:t>richer the shared memory</a:t>
            </a:r>
            <a:r>
              <a:rPr/>
              <a:t> becomes</a:t>
            </a:r>
          </a:p>
          <a:p>
            <a:pPr lvl="0" indent="0" marL="1270000">
              <a:buNone/>
            </a:pPr>
            <a:r>
              <a:rPr sz="2000"/>
              <a:t>Shared memory makes the next trip easier → which brings users back → which deepens the memory. That’s the flywheel.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Technology Edge: Autoresearch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5-person team shipping with the velocity of a 20-person team</a:t>
            </a:r>
          </a:p>
          <a:p>
            <a:pPr lvl="0" indent="0" marL="0">
              <a:buNone/>
            </a:pPr>
            <a:r>
              <a:rPr/>
              <a:t>We don’t just use AI to write code. </a:t>
            </a:r>
            <a:r>
              <a:rPr b="1"/>
              <a:t>We use AI to optimize our AI.</a:t>
            </a:r>
          </a:p>
          <a:p>
            <a:pPr lvl="0" indent="0" marL="0">
              <a:buNone/>
            </a:pPr>
            <a:r>
              <a:rPr/>
              <a:t>The autoresearch pattern (Karpathy, 2025): 1. Define a </a:t>
            </a:r>
            <a:r>
              <a:rPr b="1"/>
              <a:t>metric</a:t>
            </a:r>
            <a:r>
              <a:rPr/>
              <a:t> you can measure automatically 2. Give an agent permission to </a:t>
            </a:r>
            <a:r>
              <a:rPr b="1"/>
              <a:t>modify one thing</a:t>
            </a:r>
            <a:r>
              <a:rPr/>
              <a:t> (a prompt, a recommendation, a matching algorithm) 3. Let it </a:t>
            </a:r>
            <a:r>
              <a:rPr b="1"/>
              <a:t>run experiments overnight</a:t>
            </a:r>
            <a:r>
              <a:rPr/>
              <a:t> — hundreds of variants, tested and scored</a:t>
            </a:r>
          </a:p>
          <a:p>
            <a:pPr lvl="0" indent="0" marL="0">
              <a:buNone/>
            </a:pPr>
            <a:r>
              <a:rPr/>
              <a:t>We wake up to a changelog of research. The best-performing variant ships.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Market Opportunity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Travel Market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group travel market is massive and underserved by technology.</a:t>
            </a:r>
          </a:p>
          <a:p>
            <a:pPr lvl="0"/>
            <a:r>
              <a:rPr b="1"/>
              <a:t>Expedia:</a:t>
            </a:r>
            <a:r>
              <a:rPr/>
              <a:t> $30B+ market cap, 100M+ monthly users</a:t>
            </a:r>
          </a:p>
          <a:p>
            <a:pPr lvl="0"/>
            <a:r>
              <a:rPr b="1"/>
              <a:t>Booking.com:</a:t>
            </a:r>
            <a:r>
              <a:rPr/>
              <a:t> $140B+ market cap</a:t>
            </a:r>
          </a:p>
          <a:p>
            <a:pPr lvl="0"/>
            <a:r>
              <a:rPr b="1"/>
              <a:t>Partiful:</a:t>
            </a:r>
            <a:r>
              <a:rPr/>
              <a:t> Proved the viral group-event thesis. Events → Travel is a natural extension.</a:t>
            </a:r>
          </a:p>
          <a:p>
            <a:pPr lvl="0" indent="0" marL="1270000">
              <a:buNone/>
            </a:pPr>
            <a:r>
              <a:rPr sz="2000"/>
              <a:t>“If we captured just 1% of Expedia’s user base, the math works.”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Path to the Plane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Jake’s travel life looks like at each milestone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"/>
                <a:gridCol w="1295400"/>
                <a:gridCol w="1485900"/>
                <a:gridCol w="1765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Revenue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Users (Base Case)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First Class Everywhere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Lie-flat international, lounges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~$150K/yr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179K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NetJets Card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Skip TSA forever, text your 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~$500K/yr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595K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Own a Plane + 6 Friends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Challenger 350, Tulum on Tuesday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~$4.8M/yr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5.7M users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The Fleet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 G650s, send anyone anywhere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~$26M/yr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30.9M users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Base case assumes 8% blended take rate, 15% paid conversion, 20% operating margins.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Ask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We’re Building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travel agent</a:t>
            </a:r>
            <a:r>
              <a:rPr/>
              <a:t> that lives where people already plan trips</a:t>
            </a:r>
          </a:p>
          <a:p>
            <a:pPr lvl="0"/>
            <a:r>
              <a:rPr b="1"/>
              <a:t>The personality graph</a:t>
            </a:r>
            <a:r>
              <a:rPr/>
              <a:t> that compounds with every group trip</a:t>
            </a:r>
          </a:p>
          <a:p>
            <a:pPr lvl="0"/>
            <a:r>
              <a:rPr b="1"/>
              <a:t>The memory layer</a:t>
            </a:r>
            <a:r>
              <a:rPr/>
              <a:t> that makes the agent smarter over time</a:t>
            </a:r>
          </a:p>
          <a:p>
            <a:pPr lvl="0"/>
            <a:r>
              <a:rPr b="1"/>
              <a:t>The execution engine</a:t>
            </a:r>
            <a:r>
              <a:rPr/>
              <a:t> that turns conversation into booked travel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Tryps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travel agent in your iMessage group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jake@jointryps.com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Tryps">
      <a:dk1>
        <a:srgbClr val="0F1923"/>
      </a:dk1>
      <a:lt1>
        <a:srgbClr val="FFFFFF"/>
      </a:lt1>
      <a:dk2>
        <a:srgbClr val="1A1A1A"/>
      </a:dk2>
      <a:lt2>
        <a:srgbClr val="F8F9FA"/>
      </a:lt2>
      <a:accent1>
        <a:srgbClr val="1A73E8"/>
      </a:accent1>
      <a:accent2>
        <a:srgbClr val="E94560"/>
      </a:accent2>
      <a:accent3>
        <a:srgbClr val="0F1923"/>
      </a:accent3>
      <a:accent4>
        <a:srgbClr val="6B7280"/>
      </a:accent4>
      <a:accent5>
        <a:srgbClr val="34D399"/>
      </a:accent5>
      <a:accent6>
        <a:srgbClr val="F59E0B"/>
      </a:accent6>
      <a:hlink>
        <a:srgbClr val="1A73E8"/>
      </a:hlink>
      <a:folHlink>
        <a:srgbClr val="6B7280"/>
      </a:folHlink>
    </a:clrScheme>
    <a:fontScheme name="Tryps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2026-04-05T22:45:06Z</dcterms:created>
  <dcterms:modified xsi:type="dcterms:W3CDTF">2026-04-05T22:45:06Z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